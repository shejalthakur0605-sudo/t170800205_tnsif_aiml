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jVbKSE3o/eYBIKbAgkcIW7PGNB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8cdb4fd196_2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g38cdb4fd196_2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2870212"/>
            <a:ext cx="9144000" cy="16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C3571"/>
              </a:buClr>
              <a:buSzPts val="2800"/>
              <a:buFont typeface="Anta"/>
              <a:buNone/>
            </a:pPr>
            <a:br>
              <a:rPr lang="en-IN" sz="2800" b="1" dirty="0">
                <a:solidFill>
                  <a:srgbClr val="0C3571"/>
                </a:solidFill>
                <a:latin typeface="Anta"/>
                <a:ea typeface="Anta"/>
                <a:cs typeface="Anta"/>
                <a:sym typeface="Anta"/>
              </a:rPr>
            </a:br>
            <a:br>
              <a:rPr lang="en-IN" sz="2800" b="1" dirty="0">
                <a:solidFill>
                  <a:srgbClr val="0C3571"/>
                </a:solidFill>
                <a:latin typeface="Anta"/>
                <a:ea typeface="Anta"/>
                <a:cs typeface="Anta"/>
                <a:sym typeface="Anta"/>
              </a:rPr>
            </a:br>
            <a:br>
              <a:rPr lang="en-IN" sz="2800" b="1" dirty="0">
                <a:solidFill>
                  <a:srgbClr val="0C3571"/>
                </a:solidFill>
                <a:latin typeface="Anta"/>
                <a:ea typeface="Anta"/>
                <a:cs typeface="Anta"/>
                <a:sym typeface="Anta"/>
              </a:rPr>
            </a:br>
            <a:br>
              <a:rPr lang="en-IN" sz="2800" b="1" dirty="0">
                <a:solidFill>
                  <a:srgbClr val="0C3571"/>
                </a:solidFill>
                <a:latin typeface="Anta"/>
                <a:ea typeface="Anta"/>
                <a:cs typeface="Anta"/>
                <a:sym typeface="Anta"/>
              </a:rPr>
            </a:br>
            <a:br>
              <a:rPr lang="en-IN" sz="2800" b="1" dirty="0">
                <a:solidFill>
                  <a:srgbClr val="0C3571"/>
                </a:solidFill>
                <a:latin typeface="Anta"/>
                <a:ea typeface="Anta"/>
                <a:cs typeface="Anta"/>
                <a:sym typeface="Anta"/>
              </a:rPr>
            </a:br>
            <a:r>
              <a:rPr lang="en-IN" sz="4400" b="1" dirty="0">
                <a:solidFill>
                  <a:srgbClr val="0C35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Capstone Project 1 </a:t>
            </a:r>
            <a:br>
              <a:rPr lang="en-IN" sz="4400" b="1" dirty="0">
                <a:solidFill>
                  <a:srgbClr val="0C35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2400" b="1" dirty="0">
                <a:solidFill>
                  <a:srgbClr val="0C35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MANUFACTURING  EQUIPMENT  OUTPUT PREDICTION  WITH LINEAR  REGRESSION</a:t>
            </a:r>
            <a:endParaRPr sz="2400" b="1" dirty="0">
              <a:solidFill>
                <a:srgbClr val="0C35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C3571"/>
              </a:buClr>
              <a:buSzPts val="2800"/>
              <a:buFont typeface="Anta"/>
              <a:buNone/>
            </a:pPr>
            <a:endParaRPr sz="2300" b="1" dirty="0">
              <a:solidFill>
                <a:srgbClr val="0C357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C3571"/>
              </a:buClr>
              <a:buSzPts val="2800"/>
              <a:buFont typeface="Anta"/>
              <a:buNone/>
            </a:pPr>
            <a:br>
              <a:rPr lang="en-IN" sz="1400" b="1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400" dirty="0">
              <a:solidFill>
                <a:srgbClr val="2F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7522027" y="4225385"/>
            <a:ext cx="5367495" cy="2462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0" i="0" u="none" strike="noStrike" cap="none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Members</a:t>
            </a:r>
            <a:endParaRPr dirty="0"/>
          </a:p>
          <a:p>
            <a:pPr lvl="0"/>
            <a:r>
              <a:rPr lang="en-IN" sz="180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T170800223: Mahammad Shahid Jamadar</a:t>
            </a:r>
            <a:endParaRPr lang="en-IN" sz="1800" dirty="0">
              <a:solidFill>
                <a:srgbClr val="2F5496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lvl="0"/>
            <a:r>
              <a:rPr lang="en-IN" sz="180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T170800213: Yash Kapse</a:t>
            </a:r>
            <a:endParaRPr sz="1800" dirty="0">
              <a:solidFill>
                <a:srgbClr val="2F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/>
            <a:r>
              <a:rPr lang="en-IN" sz="180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T170800211: Adarsh Shelke</a:t>
            </a:r>
            <a:endParaRPr sz="1800" dirty="0">
              <a:solidFill>
                <a:srgbClr val="2F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/>
            <a:r>
              <a:rPr lang="en-IN" sz="180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T170800221: Tanaya Mote</a:t>
            </a:r>
            <a:endParaRPr dirty="0"/>
          </a:p>
          <a:p>
            <a:pPr lvl="0"/>
            <a:r>
              <a:rPr lang="en-IN" sz="180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T170800251: Yashashree Mene </a:t>
            </a:r>
            <a:endParaRPr sz="1800" dirty="0">
              <a:solidFill>
                <a:srgbClr val="2F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/>
            <a:r>
              <a:rPr lang="en-IN" sz="180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T170800205: Shejal Thakur </a:t>
            </a:r>
            <a:endParaRPr sz="1800" dirty="0">
              <a:solidFill>
                <a:srgbClr val="2F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2F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32571" y="304800"/>
            <a:ext cx="1578429" cy="1055914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0" y="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2F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/>
        </p:nvSpPr>
        <p:spPr>
          <a:xfrm>
            <a:off x="767025" y="495718"/>
            <a:ext cx="10417500" cy="6217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of Contents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800"/>
              <a:buFont typeface="Arial"/>
              <a:buChar char="•"/>
            </a:pPr>
            <a:r>
              <a:rPr lang="en-IN" sz="280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800"/>
              <a:buFont typeface="Arial"/>
              <a:buChar char="•"/>
            </a:pPr>
            <a:r>
              <a:rPr lang="en-IN" sz="280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Overview and Objectives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800"/>
              <a:buFont typeface="Arial"/>
              <a:buChar char="•"/>
            </a:pPr>
            <a:r>
              <a:rPr lang="en-IN" sz="280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Description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800"/>
              <a:buFont typeface="Arial"/>
              <a:buChar char="•"/>
            </a:pPr>
            <a:r>
              <a:rPr lang="en-IN" sz="280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Exploration &amp; EDA</a:t>
            </a:r>
            <a:endParaRPr dirty="0"/>
          </a:p>
          <a:p>
            <a:pPr marL="285750" indent="-285750">
              <a:buClr>
                <a:srgbClr val="2F5496"/>
              </a:buClr>
              <a:buSzPts val="2800"/>
              <a:buFont typeface="Arial"/>
              <a:buChar char="•"/>
            </a:pPr>
            <a:r>
              <a:rPr lang="en-IN" sz="280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Preprocessing &amp; Feature Engineering</a:t>
            </a:r>
          </a:p>
          <a:p>
            <a:pPr marL="285750" indent="-285750">
              <a:buClr>
                <a:srgbClr val="2F5496"/>
              </a:buClr>
              <a:buSzPts val="2800"/>
              <a:buFont typeface="Arial"/>
              <a:buChar char="•"/>
            </a:pPr>
            <a:r>
              <a:rPr lang="en-IN" sz="280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Building &amp; Training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800"/>
              <a:buFont typeface="Arial"/>
              <a:buChar char="•"/>
            </a:pPr>
            <a:r>
              <a:rPr lang="en-IN" sz="280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Evaluation &amp; Performance Analysis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800"/>
              <a:buFont typeface="Arial"/>
              <a:buChar char="•"/>
            </a:pPr>
            <a:r>
              <a:rPr lang="en-IN" sz="280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Deployment 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800"/>
              <a:buFont typeface="Arial"/>
              <a:buChar char="•"/>
            </a:pPr>
            <a:r>
              <a:rPr lang="en-IN" sz="280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 Deployment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800"/>
              <a:buFont typeface="Arial"/>
              <a:buChar char="•"/>
            </a:pPr>
            <a:r>
              <a:rPr lang="en-IN" sz="2800" dirty="0">
                <a:solidFill>
                  <a:srgbClr val="2F5496"/>
                </a:solidFill>
                <a:latin typeface="Times New Roman"/>
                <a:cs typeface="Times New Roman"/>
                <a:sym typeface="Times New Roman"/>
              </a:rPr>
              <a:t>Results &amp; Key Insights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800"/>
              <a:buFont typeface="Arial"/>
              <a:buChar char="•"/>
            </a:pPr>
            <a:r>
              <a:rPr lang="en-IN" sz="280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800"/>
              <a:buFont typeface="Arial"/>
              <a:buChar char="•"/>
            </a:pP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3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32571" y="304800"/>
            <a:ext cx="1578429" cy="10559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/>
        </p:nvSpPr>
        <p:spPr>
          <a:xfrm>
            <a:off x="319454" y="170368"/>
            <a:ext cx="10417500" cy="95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4000" b="1" dirty="0">
              <a:solidFill>
                <a:srgbClr val="2F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lang="en-IN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Manufacturing companies use injection </a:t>
            </a:r>
            <a:r>
              <a:rPr lang="en-IN" sz="24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molding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machines to produce plastic components at high volume. However, machine output can vary depending on operating conditions, material properties, operator experience, and machine characteristics.</a:t>
            </a:r>
          </a:p>
          <a:p>
            <a:endParaRPr lang="en-IN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of this project is to develop a </a:t>
            </a: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machine-learning regression model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that predicts the </a:t>
            </a: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hourly production output (</a:t>
            </a:r>
            <a:r>
              <a:rPr lang="en-IN" sz="2400" b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Parts_Per_Hour</a:t>
            </a: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an injection </a:t>
            </a:r>
            <a:r>
              <a:rPr lang="en-IN" sz="24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molding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machine using these parameters.</a:t>
            </a:r>
          </a:p>
          <a:p>
            <a:pPr marL="285750" lvl="0" indent="-285750">
              <a:buClr>
                <a:srgbClr val="2F5496"/>
              </a:buClr>
              <a:buSzPts val="2800"/>
              <a:buFont typeface="Arial"/>
              <a:buChar char="•"/>
            </a:pPr>
            <a:endParaRPr lang="en-US" sz="2400" dirty="0">
              <a:solidFill>
                <a:srgbClr val="2F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285750">
              <a:buClr>
                <a:srgbClr val="2F5496"/>
              </a:buClr>
              <a:buSzPts val="2800"/>
              <a:buFont typeface="Arial"/>
              <a:buChar char="•"/>
            </a:pPr>
            <a:endParaRPr lang="en-US" sz="2400" dirty="0">
              <a:solidFill>
                <a:srgbClr val="2F5496"/>
              </a:solidFill>
              <a:latin typeface="Times New Roman"/>
              <a:cs typeface="Times New Roman"/>
              <a:sym typeface="Times New Roman"/>
            </a:endParaRPr>
          </a:p>
          <a:p>
            <a:pPr marL="285750" lvl="0" indent="-285750">
              <a:buClr>
                <a:srgbClr val="2F5496"/>
              </a:buClr>
              <a:buSzPts val="2800"/>
              <a:buFont typeface="Arial"/>
              <a:buChar char="•"/>
            </a:pPr>
            <a:endParaRPr lang="en-US" sz="2400" dirty="0">
              <a:solidFill>
                <a:srgbClr val="2F5496"/>
              </a:solidFill>
              <a:latin typeface="Times New Roman"/>
              <a:cs typeface="Times New Roman"/>
              <a:sym typeface="Times New Roman"/>
            </a:endParaRPr>
          </a:p>
          <a:p>
            <a:pPr marL="285750" lvl="0" indent="-285750">
              <a:buClr>
                <a:srgbClr val="2F5496"/>
              </a:buClr>
              <a:buSzPts val="2800"/>
              <a:buFont typeface="Arial"/>
              <a:buChar char="•"/>
            </a:pPr>
            <a:endParaRPr lang="en-US" sz="2400" dirty="0"/>
          </a:p>
          <a:p>
            <a:endParaRPr lang="en-IN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>
              <a:solidFill>
                <a:srgbClr val="0C35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sz="2400" dirty="0">
              <a:solidFill>
                <a:srgbClr val="2F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>
              <a:solidFill>
                <a:srgbClr val="2F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4000" dirty="0">
              <a:solidFill>
                <a:srgbClr val="2F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9" name="Google Shape;9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32571" y="304800"/>
            <a:ext cx="1578429" cy="10559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/>
          <p:nvPr/>
        </p:nvSpPr>
        <p:spPr>
          <a:xfrm>
            <a:off x="381000" y="232766"/>
            <a:ext cx="11255400" cy="5139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Overview &amp; Objectives</a:t>
            </a:r>
            <a:endParaRPr sz="4000" b="1" dirty="0">
              <a:solidFill>
                <a:srgbClr val="2F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sz="2800" b="1" dirty="0">
              <a:solidFill>
                <a:srgbClr val="2F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 dirty="0">
              <a:solidFill>
                <a:srgbClr val="2F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8300" algn="just">
              <a:buClr>
                <a:srgbClr val="0C3571"/>
              </a:buClr>
              <a:buSzPts val="2200"/>
              <a:buFont typeface="Times New Roman"/>
              <a:buChar char="●"/>
            </a:pPr>
            <a:r>
              <a:rPr lang="en-IN" sz="24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manufacturing equipment data and identify factors affecting production output.</a:t>
            </a:r>
            <a:endParaRPr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57200" lvl="0" indent="-368300" algn="just">
              <a:buClr>
                <a:srgbClr val="0C3571"/>
              </a:buClr>
              <a:buSzPts val="2200"/>
              <a:buFont typeface="Times New Roman"/>
              <a:buChar char="●"/>
            </a:pP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 the dataset by handling missing values and categorical variables.</a:t>
            </a:r>
            <a:endParaRPr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57200" lvl="0" indent="-368300" algn="just">
              <a:buClr>
                <a:srgbClr val="0C3571"/>
              </a:buClr>
              <a:buSzPts val="2200"/>
              <a:buFont typeface="Times New Roman"/>
              <a:buChar char="●"/>
            </a:pP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 EDA to understand relationships between machine parameters and output.</a:t>
            </a:r>
            <a:endParaRPr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57200" lvl="0" indent="-368300" algn="just">
              <a:buClr>
                <a:srgbClr val="0C3571"/>
              </a:buClr>
              <a:buSzPts val="2200"/>
              <a:buFont typeface="Times New Roman"/>
              <a:buChar char="●"/>
            </a:pP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and compare multiple regression models</a:t>
            </a:r>
            <a:endParaRPr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57200" lvl="0" indent="-368300" algn="just">
              <a:buClr>
                <a:srgbClr val="0C3571"/>
              </a:buClr>
              <a:buSzPts val="2200"/>
              <a:buFont typeface="Times New Roman"/>
              <a:buChar char="●"/>
            </a:pP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the best-performing model based on evaluation metric</a:t>
            </a:r>
          </a:p>
          <a:p>
            <a:pPr marL="457200" lvl="0" indent="-368300" algn="just">
              <a:buClr>
                <a:srgbClr val="0C3571"/>
              </a:buClr>
              <a:buSzPts val="2200"/>
              <a:buFont typeface="Times New Roman"/>
              <a:buChar char="●"/>
            </a:pP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Validate the final model using cross-validation.</a:t>
            </a:r>
          </a:p>
          <a:p>
            <a:pPr marL="457200" indent="-368300" algn="just">
              <a:buClr>
                <a:srgbClr val="0C3571"/>
              </a:buClr>
              <a:buSzPts val="2200"/>
              <a:buFont typeface="Times New Roman"/>
              <a:buChar char="●"/>
            </a:pP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 the trained model using </a:t>
            </a:r>
            <a:r>
              <a:rPr lang="en-IN" sz="2400" b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Docker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368300" algn="just">
              <a:buClr>
                <a:srgbClr val="0C3571"/>
              </a:buClr>
              <a:buSzPts val="2200"/>
              <a:buFont typeface="Times New Roman"/>
              <a:buChar char="●"/>
            </a:pP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5" name="Google Shape;105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32571" y="304800"/>
            <a:ext cx="1578429" cy="10559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"/>
          <p:cNvSpPr txBox="1"/>
          <p:nvPr/>
        </p:nvSpPr>
        <p:spPr>
          <a:xfrm>
            <a:off x="531075" y="201707"/>
            <a:ext cx="10417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dirty="0">
                <a:solidFill>
                  <a:srgbClr val="2F5496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Data Description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1" name="Google Shape;11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32571" y="304800"/>
            <a:ext cx="1578429" cy="1055914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/>
          <p:cNvSpPr txBox="1"/>
          <p:nvPr/>
        </p:nvSpPr>
        <p:spPr>
          <a:xfrm>
            <a:off x="531075" y="1360714"/>
            <a:ext cx="10811700" cy="533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manufacturing_dataset_1000_samples </a:t>
            </a:r>
          </a:p>
          <a:p>
            <a:pPr lvl="0"/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Records: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1,000 </a:t>
            </a:r>
          </a:p>
          <a:p>
            <a:pPr lvl="0"/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Features: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17 </a:t>
            </a:r>
          </a:p>
          <a:p>
            <a:pPr lvl="0"/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Variable: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Parts_Per_Hour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Range: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5.0–68.6 Parts/Hour </a:t>
            </a:r>
          </a:p>
          <a:p>
            <a:pPr lvl="0"/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 Output: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29.30 Parts/Hour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Features include:</a:t>
            </a:r>
            <a:endParaRPr sz="24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lvl="0"/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Injection Temperature ,Injection </a:t>
            </a:r>
            <a:r>
              <a:rPr lang="en-IN" sz="24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Pressure,Cycle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Time ,Cooling Time ,Material Viscosity ,Ambient Temperature ,Machine Age ,Operator </a:t>
            </a:r>
            <a:r>
              <a:rPr lang="en-IN" sz="24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Experience,Maintenance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Hours,Shift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,Machine Type ,Material Grade ,Day of </a:t>
            </a:r>
            <a:r>
              <a:rPr lang="en-IN" sz="24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Week,Temperature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-Pressure Ratio ,Efficiency Score ,Machine </a:t>
            </a:r>
            <a:r>
              <a:rPr lang="en-IN" sz="24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Utilization,Time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-based Features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 txBox="1"/>
          <p:nvPr/>
        </p:nvSpPr>
        <p:spPr>
          <a:xfrm>
            <a:off x="261514" y="0"/>
            <a:ext cx="10417628" cy="126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</a:t>
            </a:r>
            <a:r>
              <a:rPr lang="en-IN" sz="4000" dirty="0">
                <a:solidFill>
                  <a:schemeClr val="accent1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Exploration</a:t>
            </a:r>
            <a:r>
              <a:rPr lang="en-IN" sz="4000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&amp; EDA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8" name="Google Shape;118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32571" y="304800"/>
            <a:ext cx="1578429" cy="1055914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6"/>
          <p:cNvSpPr txBox="1"/>
          <p:nvPr/>
        </p:nvSpPr>
        <p:spPr>
          <a:xfrm>
            <a:off x="261514" y="539689"/>
            <a:ext cx="11930486" cy="47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endParaRPr lang="en-US" sz="24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57200" lvl="0" indent="-368300" algn="just">
              <a:buClr>
                <a:srgbClr val="0C3571"/>
              </a:buClr>
              <a:buSzPts val="2200"/>
              <a:buFont typeface="Times New Roman"/>
              <a:buChar char="●"/>
            </a:pP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Variable: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Parts_Per_Hour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 the dataset by handling missing values and categorical variables.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57200" lvl="0" indent="-368300" algn="just">
              <a:buClr>
                <a:srgbClr val="0C3571"/>
              </a:buClr>
              <a:buSzPts val="2200"/>
              <a:buFont typeface="Times New Roman"/>
              <a:buChar char="●"/>
            </a:pP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Minimum Output: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5.0 Parts/Hour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and compare multiple regression models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57200" lvl="0" indent="-368300" algn="just">
              <a:buClr>
                <a:srgbClr val="0C3571"/>
              </a:buClr>
              <a:buSzPts val="2200"/>
              <a:buFont typeface="Times New Roman"/>
              <a:buChar char="●"/>
            </a:pP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Maximum Output: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68.6 Parts/Hour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Validate the final model using cross-validation.</a:t>
            </a:r>
          </a:p>
          <a:p>
            <a:pPr marL="457200" indent="-368300" algn="just">
              <a:buClr>
                <a:srgbClr val="0C3571"/>
              </a:buClr>
              <a:buSzPts val="2200"/>
              <a:buFont typeface="Times New Roman"/>
              <a:buChar char="●"/>
            </a:pP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 Output: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29.30 Parts/Hour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lvl="0"/>
            <a:r>
              <a:rPr lang="en-IN" sz="3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Key Correlations with </a:t>
            </a:r>
            <a:r>
              <a:rPr lang="en-IN" sz="3200" b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Parts_Per_Hour</a:t>
            </a:r>
            <a:r>
              <a:rPr lang="en-IN" sz="3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32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/>
            </a:endParaRPr>
          </a:p>
          <a:p>
            <a:pPr lvl="0"/>
            <a:endParaRPr lang="en-US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57200" lvl="0" indent="-368300" algn="just">
              <a:buClr>
                <a:srgbClr val="0C3571"/>
              </a:buClr>
              <a:buSzPts val="2200"/>
              <a:buFont typeface="Times New Roman"/>
              <a:buChar char="●"/>
            </a:pP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 Time: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−0.819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 EDA to understand relationships between machine parameters and output.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57200" lvl="0" indent="-368300" algn="just">
              <a:buClr>
                <a:srgbClr val="0C3571"/>
              </a:buClr>
              <a:buSzPts val="2200"/>
              <a:buFont typeface="Times New Roman"/>
              <a:buChar char="●"/>
            </a:pP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Operator Experience: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+0.297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the best-performing model based on evaluation metric</a:t>
            </a:r>
          </a:p>
          <a:p>
            <a:pPr marL="457200" lvl="0" indent="-368300" algn="just">
              <a:buClr>
                <a:srgbClr val="0C3571"/>
              </a:buClr>
              <a:buSzPts val="2200"/>
              <a:buFont typeface="Times New Roman"/>
              <a:buChar char="●"/>
            </a:pP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Efficiency Score: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+0.287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 the trained model using </a:t>
            </a: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Docker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368300" algn="just">
              <a:buClr>
                <a:srgbClr val="0C3571"/>
              </a:buClr>
              <a:buSzPts val="2200"/>
              <a:buFont typeface="Times New Roman"/>
              <a:buChar char="●"/>
            </a:pP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Injection Temperature: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+0.184</a:t>
            </a:r>
          </a:p>
          <a:p>
            <a:pPr marL="457200" lvl="0" indent="-368300" algn="just">
              <a:buClr>
                <a:srgbClr val="0C3571"/>
              </a:buClr>
              <a:buSzPts val="2200"/>
              <a:buFont typeface="Times New Roman"/>
              <a:buChar char="●"/>
            </a:pP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Utilization: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+0.175</a:t>
            </a:r>
          </a:p>
          <a:p>
            <a:pPr marL="457200" lvl="0" indent="-368300" algn="just">
              <a:buClr>
                <a:srgbClr val="0C3571"/>
              </a:buClr>
              <a:buSzPts val="2200"/>
              <a:buFont typeface="Times New Roman"/>
              <a:buChar char="●"/>
            </a:pP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Age: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−0.175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 txBox="1"/>
          <p:nvPr/>
        </p:nvSpPr>
        <p:spPr>
          <a:xfrm>
            <a:off x="270056" y="-189986"/>
            <a:ext cx="10417500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lvl="0"/>
            <a:r>
              <a:rPr lang="en-IN" sz="4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&amp; Feature Engineering</a:t>
            </a:r>
            <a:endParaRPr sz="40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125" name="Google Shape;125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32571" y="304800"/>
            <a:ext cx="1578429" cy="1055914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7"/>
          <p:cNvSpPr txBox="1"/>
          <p:nvPr/>
        </p:nvSpPr>
        <p:spPr>
          <a:xfrm>
            <a:off x="270056" y="1855500"/>
            <a:ext cx="11416500" cy="46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-12700">
              <a:buClr>
                <a:schemeClr val="dk1"/>
              </a:buClr>
              <a:buSzPts val="1100"/>
            </a:pP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• </a:t>
            </a: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Values: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Median imputation for Material Viscosity, Ambient Temperature and Operator Experience.</a:t>
            </a:r>
          </a:p>
          <a:p>
            <a:pPr marL="12700" lvl="0" indent="-12700">
              <a:buClr>
                <a:schemeClr val="dk1"/>
              </a:buClr>
              <a:buSzPts val="1100"/>
            </a:pP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• </a:t>
            </a: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Categorical Encoding: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One-Hot Encoding for Shift, Machine Type, Material Grade and Day of Week.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12700" lvl="0" indent="-12700">
              <a:buClr>
                <a:schemeClr val="dk1"/>
              </a:buClr>
              <a:buSzPts val="1100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• </a:t>
            </a: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Features: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Extracted Hour, Day, Month and </a:t>
            </a:r>
            <a:r>
              <a:rPr lang="en-IN" sz="24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DayOfWeek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from Timestamp.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12700" lvl="0" indent="-12700">
              <a:buClr>
                <a:schemeClr val="dk1"/>
              </a:buClr>
              <a:buSzPts val="1100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• </a:t>
            </a: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Engineering: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Created Temperature-Pressure Ratio.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12700" lvl="0" indent="-12700">
              <a:buClr>
                <a:schemeClr val="dk1"/>
              </a:buClr>
              <a:buSzPts val="1100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• </a:t>
            </a: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Redundant Feature Removal: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Removed </a:t>
            </a:r>
            <a:r>
              <a:rPr lang="en-IN" sz="24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Total_Cycle_Time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from the final model.</a:t>
            </a:r>
          </a:p>
          <a:p>
            <a:pPr lvl="0"/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• </a:t>
            </a: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Polynomial Features: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Degree-3 polynomial features applied to Cycle Time, Injection Temperature and Operator Experience. </a:t>
            </a:r>
          </a:p>
          <a:p>
            <a:pPr marL="12700" lvl="0" indent="-12700">
              <a:buClr>
                <a:schemeClr val="dk1"/>
              </a:buClr>
              <a:buSzPts val="1100"/>
            </a:pPr>
            <a:endParaRPr lang="en-US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12700" lvl="0" indent="-12700">
              <a:buClr>
                <a:schemeClr val="dk1"/>
              </a:buClr>
              <a:buSzPts val="1100"/>
            </a:pPr>
            <a:endParaRPr lang="en-US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12700" lvl="0" indent="-12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"/>
          <p:cNvSpPr txBox="1"/>
          <p:nvPr/>
        </p:nvSpPr>
        <p:spPr>
          <a:xfrm>
            <a:off x="381000" y="-73270"/>
            <a:ext cx="10417500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lvl="0"/>
            <a:r>
              <a:rPr lang="en-IN" sz="4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Building &amp; Training</a:t>
            </a:r>
            <a:endParaRPr sz="40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132" name="Google Shape;132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32571" y="304800"/>
            <a:ext cx="1578429" cy="1055914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8"/>
          <p:cNvSpPr txBox="1"/>
          <p:nvPr/>
        </p:nvSpPr>
        <p:spPr>
          <a:xfrm>
            <a:off x="292875" y="1412200"/>
            <a:ext cx="11265600" cy="51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just">
              <a:buClr>
                <a:srgbClr val="0C3571"/>
              </a:buClr>
              <a:buSzPts val="2200"/>
              <a:buFont typeface="Times New Roman"/>
              <a:buChar char="●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Parts_Per_Hour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368300" algn="just">
              <a:buClr>
                <a:srgbClr val="0C3571"/>
              </a:buClr>
              <a:buSzPts val="2200"/>
              <a:buFont typeface="Times New Roman"/>
              <a:buChar char="●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Train-Test Split: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80% Training / 20% Testing </a:t>
            </a:r>
          </a:p>
          <a:p>
            <a:pPr marL="457200" lvl="0" indent="-368300" algn="just">
              <a:buClr>
                <a:srgbClr val="0C3571"/>
              </a:buClr>
              <a:buSzPts val="2200"/>
              <a:buFont typeface="Times New Roman"/>
              <a:buChar char="●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Evaluated:</a:t>
            </a:r>
          </a:p>
          <a:p>
            <a:pPr marL="12700" lvl="0" indent="-12700">
              <a:buClr>
                <a:schemeClr val="dk1"/>
              </a:buClr>
              <a:buSzPts val="1100"/>
            </a:pP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                                  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•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</a:t>
            </a:r>
          </a:p>
          <a:p>
            <a:pPr marL="12700" lvl="0" indent="-12700">
              <a:buClr>
                <a:schemeClr val="dk1"/>
              </a:buClr>
              <a:buSzPts val="1100"/>
            </a:pP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			            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•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12700" lvl="0" indent="-12700">
              <a:buClr>
                <a:schemeClr val="dk1"/>
              </a:buClr>
              <a:buSzPts val="1100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                                   •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Polynomial Regression — Degree 2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12700" lvl="0" indent="-12700">
              <a:buClr>
                <a:schemeClr val="dk1"/>
              </a:buClr>
              <a:buSzPts val="1100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                                   •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Polynomial Regression — Degree 3</a:t>
            </a:r>
          </a:p>
          <a:p>
            <a:pPr marL="12700" lvl="0" indent="-12700">
              <a:buClr>
                <a:schemeClr val="dk1"/>
              </a:buClr>
              <a:buSzPts val="1100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•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Model: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Polynomial Regression — Degree 3</a:t>
            </a:r>
          </a:p>
          <a:p>
            <a:pPr marL="12700" lvl="0" indent="-12700">
              <a:buClr>
                <a:schemeClr val="dk1"/>
              </a:buClr>
              <a:buSzPts val="1100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•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model was trained using a preprocessing and regression pipeline. 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12700" lvl="0" indent="-12700">
              <a:buClr>
                <a:schemeClr val="dk1"/>
              </a:buClr>
              <a:buSzPts val="1100"/>
            </a:pPr>
            <a:endParaRPr lang="en-US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12700" lvl="0" indent="-12700">
              <a:buClr>
                <a:schemeClr val="dk1"/>
              </a:buClr>
              <a:buSzPts val="1100"/>
            </a:pPr>
            <a:endParaRPr lang="en-US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lvl="0"/>
            <a:endParaRPr lang="en-US" sz="24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57200" lvl="3" indent="-368300" algn="just">
              <a:buClr>
                <a:srgbClr val="0C3571"/>
              </a:buClr>
              <a:buSzPts val="2200"/>
              <a:buFont typeface="Times New Roman"/>
              <a:buChar char="●"/>
            </a:pPr>
            <a:endParaRPr lang="en-US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"/>
          <p:cNvSpPr txBox="1"/>
          <p:nvPr/>
        </p:nvSpPr>
        <p:spPr>
          <a:xfrm>
            <a:off x="416236" y="201819"/>
            <a:ext cx="10417500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/>
            <a:r>
              <a:rPr lang="en-IN" sz="4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 &amp; Performance Analysis</a:t>
            </a:r>
            <a:endParaRPr sz="18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139" name="Google Shape;139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32571" y="304800"/>
            <a:ext cx="1578429" cy="105591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31F11DA-6E20-55F3-D9F3-E606D3D1D1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5253128"/>
              </p:ext>
            </p:extLst>
          </p:nvPr>
        </p:nvGraphicFramePr>
        <p:xfrm>
          <a:off x="381000" y="1289645"/>
          <a:ext cx="11065144" cy="5259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286">
                  <a:extLst>
                    <a:ext uri="{9D8B030D-6E8A-4147-A177-3AD203B41FA5}">
                      <a16:colId xmlns:a16="http://schemas.microsoft.com/office/drawing/2014/main" val="783604259"/>
                    </a:ext>
                  </a:extLst>
                </a:gridCol>
                <a:gridCol w="2766286">
                  <a:extLst>
                    <a:ext uri="{9D8B030D-6E8A-4147-A177-3AD203B41FA5}">
                      <a16:colId xmlns:a16="http://schemas.microsoft.com/office/drawing/2014/main" val="2480727375"/>
                    </a:ext>
                  </a:extLst>
                </a:gridCol>
                <a:gridCol w="2766286">
                  <a:extLst>
                    <a:ext uri="{9D8B030D-6E8A-4147-A177-3AD203B41FA5}">
                      <a16:colId xmlns:a16="http://schemas.microsoft.com/office/drawing/2014/main" val="2967253636"/>
                    </a:ext>
                  </a:extLst>
                </a:gridCol>
                <a:gridCol w="2766286">
                  <a:extLst>
                    <a:ext uri="{9D8B030D-6E8A-4147-A177-3AD203B41FA5}">
                      <a16:colId xmlns:a16="http://schemas.microsoft.com/office/drawing/2014/main" val="387877622"/>
                    </a:ext>
                  </a:extLst>
                </a:gridCol>
              </a:tblGrid>
              <a:tr h="8387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  <a:p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MAE</a:t>
                      </a:r>
                    </a:p>
                    <a:p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</a:t>
                      </a:r>
                    </a:p>
                    <a:p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R²</a:t>
                      </a:r>
                    </a:p>
                    <a:p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068312"/>
                  </a:ext>
                </a:extLst>
              </a:tr>
              <a:tr h="8387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Linear Regression</a:t>
                      </a:r>
                    </a:p>
                    <a:p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2.7063</a:t>
                      </a:r>
                    </a:p>
                    <a:p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3.4915</a:t>
                      </a:r>
                    </a:p>
                    <a:p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0.9066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033306"/>
                  </a:ext>
                </a:extLst>
              </a:tr>
              <a:tr h="8387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</a:t>
                      </a:r>
                    </a:p>
                    <a:p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3.4648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4.4060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0.8512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2513202"/>
                  </a:ext>
                </a:extLst>
              </a:tr>
              <a:tr h="10738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Polynomial Regression Degree 2</a:t>
                      </a:r>
                    </a:p>
                    <a:p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2.4843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3.1924</a:t>
                      </a:r>
                    </a:p>
                    <a:p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0.9219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2100058"/>
                  </a:ext>
                </a:extLst>
              </a:tr>
              <a:tr h="140428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Polynomial Regression Degree 3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2.2991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2.9440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0.9336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815087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8cdb4fd196_2_27"/>
          <p:cNvSpPr txBox="1"/>
          <p:nvPr/>
        </p:nvSpPr>
        <p:spPr>
          <a:xfrm>
            <a:off x="275725" y="478834"/>
            <a:ext cx="104175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IN" sz="4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Deployment</a:t>
            </a:r>
            <a:endParaRPr sz="40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146" name="Google Shape;146;g38cdb4fd196_2_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32571" y="304800"/>
            <a:ext cx="1578429" cy="105591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38cdb4fd196_2_27"/>
          <p:cNvSpPr txBox="1"/>
          <p:nvPr/>
        </p:nvSpPr>
        <p:spPr>
          <a:xfrm>
            <a:off x="275725" y="1027700"/>
            <a:ext cx="11187600" cy="5004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2700" lvl="0" algn="just">
              <a:lnSpc>
                <a:spcPct val="115000"/>
              </a:lnSpc>
            </a:pPr>
            <a:endParaRPr lang="en-IN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12700" lvl="0" algn="just">
              <a:lnSpc>
                <a:spcPct val="115000"/>
              </a:lnSpc>
            </a:pP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•</a:t>
            </a: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HTML </a:t>
            </a:r>
            <a:r>
              <a:rPr lang="en-IN" sz="24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IN" sz="24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•MAE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(Mean Absolute Error): Average size of errors.</a:t>
            </a:r>
            <a:endParaRPr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12700" lvl="0" algn="just">
              <a:lnSpc>
                <a:spcPct val="115000"/>
              </a:lnSpc>
            </a:pP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•</a:t>
            </a: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24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•RMSE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: Easy to read version of MSE, in the same unit as output.</a:t>
            </a:r>
            <a:endParaRPr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12700" lvl="0" algn="just">
              <a:lnSpc>
                <a:spcPct val="115000"/>
              </a:lnSpc>
            </a:pP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•</a:t>
            </a: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Preprocessing: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Applied to user </a:t>
            </a:r>
            <a:r>
              <a:rPr lang="en-IN" sz="24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inputs</a:t>
            </a:r>
            <a:r>
              <a:rPr lang="en-IN" sz="24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•Plot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residuals → should look random.</a:t>
            </a:r>
            <a:endParaRPr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12700" lvl="0" algn="just">
              <a:lnSpc>
                <a:spcPct val="115000"/>
              </a:lnSpc>
            </a:pP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•</a:t>
            </a: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Model: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Polynomial Regression Degree 3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3.Predicted vs Actual Plot:</a:t>
            </a:r>
            <a:endParaRPr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12700" lvl="0" algn="just">
              <a:lnSpc>
                <a:spcPct val="115000"/>
              </a:lnSpc>
            </a:pP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•</a:t>
            </a: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Predicted Parts Per </a:t>
            </a:r>
            <a:r>
              <a:rPr lang="en-IN" sz="24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Hour</a:t>
            </a:r>
            <a:r>
              <a:rPr lang="en-IN" sz="24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•If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points are close to the 45° line, predictions are good.</a:t>
            </a:r>
            <a:endParaRPr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lvl="0"/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•</a:t>
            </a: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Prediction: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33.63 Parts/Hour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endParaRPr lang="en-IN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 Flow:</a:t>
            </a:r>
            <a:b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		</a:t>
            </a: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Input → HTML Frontend → </a:t>
            </a:r>
            <a:r>
              <a:rPr lang="en-IN" sz="2400" b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Preprocessing -				→ ML Model → Prediction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32571" y="304800"/>
            <a:ext cx="1578429" cy="105591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58;p11">
            <a:extLst>
              <a:ext uri="{FF2B5EF4-FFF2-40B4-BE49-F238E27FC236}">
                <a16:creationId xmlns:a16="http://schemas.microsoft.com/office/drawing/2014/main" id="{6999B67A-D35E-0901-2170-05107A66F28F}"/>
              </a:ext>
            </a:extLst>
          </p:cNvPr>
          <p:cNvSpPr txBox="1"/>
          <p:nvPr/>
        </p:nvSpPr>
        <p:spPr>
          <a:xfrm>
            <a:off x="381000" y="0"/>
            <a:ext cx="12085320" cy="6594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rgbClr val="2F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lnSpc>
                <a:spcPct val="115000"/>
              </a:lnSpc>
            </a:pPr>
            <a:r>
              <a:rPr lang="en-IN" sz="4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Docker Deployment</a:t>
            </a:r>
          </a:p>
          <a:p>
            <a:pPr marL="457200" lvl="0" indent="-368300">
              <a:lnSpc>
                <a:spcPct val="115000"/>
              </a:lnSpc>
              <a:spcBef>
                <a:spcPts val="1200"/>
              </a:spcBef>
              <a:buClr>
                <a:srgbClr val="2F5496"/>
              </a:buClr>
              <a:buSzPts val="2200"/>
              <a:buChar char="●"/>
            </a:pPr>
            <a:endParaRPr lang="en-IN" sz="2400" dirty="0">
              <a:solidFill>
                <a:srgbClr val="2F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8300">
              <a:lnSpc>
                <a:spcPct val="115000"/>
              </a:lnSpc>
              <a:spcBef>
                <a:spcPts val="1200"/>
              </a:spcBef>
              <a:buClr>
                <a:srgbClr val="2F5496"/>
              </a:buClr>
              <a:buSzPts val="2200"/>
              <a:buChar char="●"/>
            </a:pP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Containerization Tool: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Docker</a:t>
            </a:r>
          </a:p>
          <a:p>
            <a:pPr marL="457200" lvl="0" indent="-368300">
              <a:lnSpc>
                <a:spcPct val="115000"/>
              </a:lnSpc>
              <a:buClr>
                <a:srgbClr val="2F5496"/>
              </a:buClr>
              <a:buSzPts val="2200"/>
              <a:buChar char="●"/>
            </a:pP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Packages the </a:t>
            </a:r>
            <a:r>
              <a:rPr lang="en-IN" sz="2400" b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application, frontend, trained model, and required dependencies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into a single environment.</a:t>
            </a:r>
          </a:p>
          <a:p>
            <a:pPr marL="457200" lvl="0" indent="-368300">
              <a:lnSpc>
                <a:spcPct val="115000"/>
              </a:lnSpc>
              <a:buClr>
                <a:srgbClr val="2F5496"/>
              </a:buClr>
              <a:buSzPts val="2200"/>
              <a:buChar char="●"/>
            </a:pP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Ensures </a:t>
            </a: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consistent and reproducible deployment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368300">
              <a:lnSpc>
                <a:spcPct val="115000"/>
              </a:lnSpc>
              <a:buClr>
                <a:srgbClr val="2F5496"/>
              </a:buClr>
              <a:buSzPts val="2200"/>
              <a:buChar char="●"/>
            </a:pP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Docker Image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contains the complete application setup.</a:t>
            </a:r>
          </a:p>
          <a:p>
            <a:pPr marL="457200" lvl="0" indent="-368300">
              <a:lnSpc>
                <a:spcPct val="115000"/>
              </a:lnSpc>
              <a:buClr>
                <a:srgbClr val="2F5496"/>
              </a:buClr>
              <a:buSzPts val="2200"/>
              <a:buChar char="●"/>
            </a:pP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was </a:t>
            </a: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tested locally on port 8000</a:t>
            </a:r>
          </a:p>
          <a:p>
            <a:pPr marL="88900" lvl="0">
              <a:lnSpc>
                <a:spcPct val="115000"/>
              </a:lnSpc>
              <a:buClr>
                <a:srgbClr val="2F5496"/>
              </a:buClr>
              <a:buSzPts val="2200"/>
            </a:pPr>
            <a:endParaRPr lang="en-IN" sz="24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57200" lvl="0" indent="-368300">
              <a:lnSpc>
                <a:spcPct val="115000"/>
              </a:lnSpc>
              <a:buClr>
                <a:srgbClr val="2F5496"/>
              </a:buClr>
              <a:buSzPts val="2200"/>
              <a:buChar char="●"/>
            </a:pP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</a:rPr>
              <a:t>Docker Workflow:</a:t>
            </a:r>
          </a:p>
          <a:p>
            <a:pPr marL="88900" lvl="0">
              <a:lnSpc>
                <a:spcPct val="115000"/>
              </a:lnSpc>
              <a:buClr>
                <a:srgbClr val="2F5496"/>
              </a:buClr>
              <a:buSzPts val="2200"/>
            </a:pPr>
            <a:br>
              <a:rPr lang="en-IN" sz="24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IN" sz="2400" dirty="0">
                <a:solidFill>
                  <a:schemeClr val="accent1">
                    <a:lumMod val="50000"/>
                  </a:schemeClr>
                </a:solidFill>
              </a:rPr>
              <a:t>       </a:t>
            </a: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</a:rPr>
              <a:t>Application Files → Docker Image → Container → Running Application</a:t>
            </a:r>
            <a:endParaRPr lang="en-IN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2F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32571" y="304800"/>
            <a:ext cx="1578429" cy="105591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52;p12">
            <a:extLst>
              <a:ext uri="{FF2B5EF4-FFF2-40B4-BE49-F238E27FC236}">
                <a16:creationId xmlns:a16="http://schemas.microsoft.com/office/drawing/2014/main" id="{AC8F46EB-211E-D315-F880-440ABD76518D}"/>
              </a:ext>
            </a:extLst>
          </p:cNvPr>
          <p:cNvSpPr txBox="1"/>
          <p:nvPr/>
        </p:nvSpPr>
        <p:spPr>
          <a:xfrm>
            <a:off x="157423" y="1137666"/>
            <a:ext cx="12034577" cy="5109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68300">
              <a:lnSpc>
                <a:spcPct val="115000"/>
              </a:lnSpc>
              <a:spcBef>
                <a:spcPts val="1200"/>
              </a:spcBef>
              <a:buClr>
                <a:srgbClr val="2F5496"/>
              </a:buClr>
              <a:buSzPts val="2200"/>
              <a:buChar char="●"/>
            </a:pPr>
            <a:endParaRPr lang="en-IN" sz="24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68300">
              <a:lnSpc>
                <a:spcPct val="115000"/>
              </a:lnSpc>
              <a:spcBef>
                <a:spcPts val="1200"/>
              </a:spcBef>
              <a:buClr>
                <a:srgbClr val="2F5496"/>
              </a:buClr>
              <a:buSzPts val="2200"/>
              <a:buChar char="●"/>
            </a:pP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 Time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has the strongest relationship with machine output (</a:t>
            </a: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−0.819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457200" lvl="0" indent="-368300">
              <a:lnSpc>
                <a:spcPct val="115000"/>
              </a:lnSpc>
              <a:spcBef>
                <a:spcPts val="1200"/>
              </a:spcBef>
              <a:buClr>
                <a:srgbClr val="2F5496"/>
              </a:buClr>
              <a:buSzPts val="2200"/>
              <a:buChar char="●"/>
            </a:pP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Longer cycle times are generally associated with </a:t>
            </a: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lower production output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368300">
              <a:lnSpc>
                <a:spcPct val="115000"/>
              </a:lnSpc>
              <a:spcBef>
                <a:spcPts val="1200"/>
              </a:spcBef>
              <a:buClr>
                <a:srgbClr val="2F5496"/>
              </a:buClr>
              <a:buSzPts val="2200"/>
              <a:buChar char="●"/>
            </a:pP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Operator Experience (+0.297)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Efficiency Score (+0.287)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show positive relationships with output.</a:t>
            </a:r>
          </a:p>
          <a:p>
            <a:pPr marL="457200" indent="-368300">
              <a:lnSpc>
                <a:spcPct val="115000"/>
              </a:lnSpc>
              <a:spcBef>
                <a:spcPts val="1200"/>
              </a:spcBef>
              <a:buClr>
                <a:srgbClr val="2F5496"/>
              </a:buClr>
              <a:buSzPts val="2200"/>
              <a:buFont typeface="Arial"/>
              <a:buChar char="●"/>
            </a:pP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Age (−0.175)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shows a negative relationship with output. </a:t>
            </a:r>
          </a:p>
          <a:p>
            <a:pPr marL="457200" lvl="0" indent="-368300">
              <a:lnSpc>
                <a:spcPct val="115000"/>
              </a:lnSpc>
              <a:buClr>
                <a:srgbClr val="2F5496"/>
              </a:buClr>
              <a:buSzPts val="2200"/>
              <a:buChar char="●"/>
            </a:pP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Polynomial Regression Degree 3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achieved the best overall performance.</a:t>
            </a:r>
          </a:p>
          <a:p>
            <a:pPr marL="457200" lvl="0" indent="-368300">
              <a:lnSpc>
                <a:spcPct val="115000"/>
              </a:lnSpc>
              <a:buClr>
                <a:srgbClr val="2F5496"/>
              </a:buClr>
              <a:buSzPts val="2200"/>
              <a:buChar char="●"/>
            </a:pP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model achieved </a:t>
            </a: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R² = 0.9336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MAE = 2.2991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RMSE = 2.9440 Parts/Hour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368300">
              <a:lnSpc>
                <a:spcPct val="115000"/>
              </a:lnSpc>
              <a:buClr>
                <a:srgbClr val="2F5496"/>
              </a:buClr>
              <a:buSzPts val="2200"/>
              <a:buChar char="●"/>
            </a:pP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model can support </a:t>
            </a: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production planning, machine optimization, and identification of underperforming conditions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3C4361-AF89-ED1C-D0CD-6333714A845F}"/>
              </a:ext>
            </a:extLst>
          </p:cNvPr>
          <p:cNvSpPr txBox="1"/>
          <p:nvPr/>
        </p:nvSpPr>
        <p:spPr>
          <a:xfrm>
            <a:off x="233382" y="478814"/>
            <a:ext cx="49616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Key Insights</a:t>
            </a:r>
            <a:endParaRPr lang="en-IN" sz="40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"/>
          <p:cNvSpPr txBox="1"/>
          <p:nvPr/>
        </p:nvSpPr>
        <p:spPr>
          <a:xfrm>
            <a:off x="0" y="0"/>
            <a:ext cx="12210687" cy="6887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2F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/>
            <a:r>
              <a:rPr lang="en-IN" sz="4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Conclusion</a:t>
            </a:r>
            <a:endParaRPr sz="40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57200" lvl="0" indent="-368300">
              <a:lnSpc>
                <a:spcPct val="115000"/>
              </a:lnSpc>
              <a:spcBef>
                <a:spcPts val="1200"/>
              </a:spcBef>
              <a:buClr>
                <a:srgbClr val="2F5496"/>
              </a:buClr>
              <a:buSzPts val="2200"/>
              <a:buChar char="●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supervised regression solution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predicting injection-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molding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machine output.</a:t>
            </a:r>
          </a:p>
          <a:p>
            <a:pPr marL="457200" lvl="0" indent="-368300">
              <a:lnSpc>
                <a:spcPct val="115000"/>
              </a:lnSpc>
              <a:spcBef>
                <a:spcPts val="1200"/>
              </a:spcBef>
              <a:buClr>
                <a:srgbClr val="2F5496"/>
              </a:buClr>
              <a:buSzPts val="2200"/>
              <a:buChar char="●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1,000 manufacturing records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machine, material, operator, and time-based features.</a:t>
            </a:r>
          </a:p>
          <a:p>
            <a:pPr marL="457200" lvl="0" indent="-368300">
              <a:lnSpc>
                <a:spcPct val="115000"/>
              </a:lnSpc>
              <a:spcBef>
                <a:spcPts val="1200"/>
              </a:spcBef>
              <a:buClr>
                <a:srgbClr val="2F5496"/>
              </a:buClr>
              <a:buSzPts val="2200"/>
              <a:buChar char="●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preprocessing, EDA, feature engineering, model training, and evaluation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368300">
              <a:lnSpc>
                <a:spcPct val="115000"/>
              </a:lnSpc>
              <a:spcBef>
                <a:spcPts val="1200"/>
              </a:spcBef>
              <a:buClr>
                <a:srgbClr val="2F5496"/>
              </a:buClr>
              <a:buSzPts val="2200"/>
              <a:buChar char="●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Polynomial Regression Degree 3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achieved the best performance.</a:t>
            </a:r>
          </a:p>
          <a:p>
            <a:pPr marL="457200" lvl="0" indent="-368300">
              <a:lnSpc>
                <a:spcPct val="115000"/>
              </a:lnSpc>
              <a:spcBef>
                <a:spcPts val="1200"/>
              </a:spcBef>
              <a:buClr>
                <a:srgbClr val="2F5496"/>
              </a:buClr>
              <a:buSzPts val="2200"/>
              <a:buChar char="●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model achieved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 = 2.2991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RMSE = 2.9440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R² = 0.9336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368300">
              <a:lnSpc>
                <a:spcPct val="115000"/>
              </a:lnSpc>
              <a:spcBef>
                <a:spcPts val="1200"/>
              </a:spcBef>
              <a:buClr>
                <a:srgbClr val="2F5496"/>
              </a:buClr>
              <a:buSzPts val="2200"/>
              <a:buChar char="●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Five-fold cross-validation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achieved a mean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R² = 0.9177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368300">
              <a:lnSpc>
                <a:spcPct val="115000"/>
              </a:lnSpc>
              <a:spcBef>
                <a:spcPts val="1200"/>
              </a:spcBef>
              <a:buClr>
                <a:srgbClr val="2F5496"/>
              </a:buClr>
              <a:buSzPts val="2200"/>
              <a:buChar char="●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was integrated into a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Docker-based deployment workflow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368300">
              <a:lnSpc>
                <a:spcPct val="115000"/>
              </a:lnSpc>
              <a:spcBef>
                <a:spcPts val="1200"/>
              </a:spcBef>
              <a:buClr>
                <a:srgbClr val="2F5496"/>
              </a:buClr>
              <a:buSzPts val="2200"/>
              <a:buChar char="●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 can support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production planning and machine performance improvement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IN" sz="24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165" name="Google Shape;16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32571" y="304800"/>
            <a:ext cx="1578429" cy="10559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1029</Words>
  <Application>Microsoft Office PowerPoint</Application>
  <PresentationFormat>Widescreen</PresentationFormat>
  <Paragraphs>162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Anta</vt:lpstr>
      <vt:lpstr>Arial</vt:lpstr>
      <vt:lpstr>Calibri</vt:lpstr>
      <vt:lpstr>Times New Roman</vt:lpstr>
      <vt:lpstr>Office Theme</vt:lpstr>
      <vt:lpstr>     Capstone Project 1  MANUFACTURING  EQUIPMENT  OUTPUT PREDICTION  WITH LINEAR  REGRESSION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TNS INDIA FOUNDATION</dc:creator>
  <cp:lastModifiedBy>hanif jamadar</cp:lastModifiedBy>
  <cp:revision>4</cp:revision>
  <dcterms:created xsi:type="dcterms:W3CDTF">2025-09-02T04:26:51Z</dcterms:created>
  <dcterms:modified xsi:type="dcterms:W3CDTF">2026-08-13T18:50:18Z</dcterms:modified>
</cp:coreProperties>
</file>